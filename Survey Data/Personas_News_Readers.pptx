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Google Sans"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AARAV</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26</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B.Tech (CS)</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Mumbai</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Flatmates</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Engineer</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i="1" u="none" strike="noStrike" cap="none" dirty="0">
                <a:solidFill>
                  <a:srgbClr val="000000"/>
                </a:solidFill>
                <a:latin typeface="Google Sans"/>
                <a:ea typeface="Google Sans"/>
                <a:cs typeface="Google Sans"/>
                <a:sym typeface="Google Sans"/>
              </a:rPr>
              <a:t>“Just show me what matters today.”</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rgbClr val="000000"/>
              </a:buClr>
              <a:buSzPts val="1400"/>
              <a:buFont typeface="Google Sans"/>
              <a:buChar char="●"/>
            </a:pPr>
            <a:r>
              <a:rPr lang="en-IN" dirty="0">
                <a:latin typeface="Google Sans"/>
                <a:ea typeface="Google Sans"/>
                <a:cs typeface="Google Sans"/>
                <a:sym typeface="Google Sans"/>
              </a:rPr>
              <a:t>Catch up on top headlines in under 5 minutes.</a:t>
            </a:r>
          </a:p>
          <a:p>
            <a:pPr marL="457200" marR="0" lvl="0" indent="-317500" algn="l" rtl="0">
              <a:lnSpc>
                <a:spcPct val="100000"/>
              </a:lnSpc>
              <a:spcBef>
                <a:spcPts val="0"/>
              </a:spcBef>
              <a:spcAft>
                <a:spcPts val="0"/>
              </a:spcAft>
              <a:buClr>
                <a:srgbClr val="000000"/>
              </a:buClr>
              <a:buSzPts val="1400"/>
              <a:buFont typeface="Google Sans"/>
              <a:buChar char="●"/>
            </a:pPr>
            <a:r>
              <a:rPr lang="en-IN" sz="1400" i="0" u="none" strike="noStrike" cap="none" dirty="0">
                <a:solidFill>
                  <a:srgbClr val="000000"/>
                </a:solidFill>
                <a:latin typeface="Google Sans"/>
                <a:ea typeface="Google Sans"/>
                <a:cs typeface="Google Sans"/>
                <a:sym typeface="Google Sans"/>
              </a:rPr>
              <a:t>See Mumbai and business news first.</a:t>
            </a:r>
            <a:endParaRPr sz="14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3264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chemeClr val="dk1"/>
              </a:buClr>
              <a:buSzPts val="1400"/>
              <a:buFont typeface="Google Sans"/>
              <a:buChar char="●"/>
            </a:pPr>
            <a:r>
              <a:rPr lang="en" sz="1400" i="0" u="none" strike="noStrike" cap="none" dirty="0">
                <a:solidFill>
                  <a:schemeClr val="dk1"/>
                </a:solidFill>
                <a:latin typeface="Google Sans"/>
                <a:ea typeface="Google Sans"/>
                <a:cs typeface="Google Sans"/>
                <a:sym typeface="Google Sans"/>
              </a:rPr>
              <a:t>Blank ad slots and autoplay videos make pages jump.</a:t>
            </a:r>
          </a:p>
          <a:p>
            <a:pPr marL="457200" marR="0" lvl="0" indent="-317500" algn="l" rtl="0">
              <a:lnSpc>
                <a:spcPct val="100000"/>
              </a:lnSpc>
              <a:spcBef>
                <a:spcPts val="0"/>
              </a:spcBef>
              <a:spcAft>
                <a:spcPts val="0"/>
              </a:spcAft>
              <a:buClr>
                <a:schemeClr val="dk1"/>
              </a:buClr>
              <a:buSzPts val="1400"/>
              <a:buFont typeface="Google Sans"/>
              <a:buChar char="●"/>
            </a:pPr>
            <a:r>
              <a:rPr lang="en-IN" sz="1400" i="0" u="none" strike="noStrike" cap="none" dirty="0">
                <a:solidFill>
                  <a:schemeClr val="dk1"/>
                </a:solidFill>
                <a:latin typeface="Google Sans"/>
                <a:ea typeface="Google Sans"/>
                <a:cs typeface="Google Sans"/>
                <a:sym typeface="Google Sans"/>
              </a:rPr>
              <a:t>Too many menu links to find one section.</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rgbClr val="000000"/>
              </a:solidFill>
              <a:latin typeface="Google Sans"/>
              <a:ea typeface="Google Sans"/>
              <a:cs typeface="Google Sans"/>
              <a:sym typeface="Google Sans"/>
            </a:endParaRPr>
          </a:p>
        </p:txBody>
      </p:sp>
      <p:sp>
        <p:nvSpPr>
          <p:cNvPr id="61" name="Google Shape;61;p13"/>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i="0" u="none" strike="noStrike" cap="none" dirty="0">
                <a:solidFill>
                  <a:srgbClr val="000000"/>
                </a:solidFill>
                <a:latin typeface="Google Sans"/>
                <a:ea typeface="Google Sans"/>
                <a:cs typeface="Google Sans"/>
                <a:sym typeface="Google Sans"/>
              </a:rPr>
              <a:t>Aarav is a 26 year old software engineer who skims news on his phone during his train commute. He wants fast, uncluttered headlines and local news, but heavy ads, layout shifts and slow loading make him abandon sites.</a:t>
            </a:r>
            <a:endParaRPr sz="1400" i="0" u="none" strike="noStrike" cap="none" dirty="0">
              <a:solidFill>
                <a:srgbClr val="000000"/>
              </a:solidFill>
              <a:latin typeface="Google Sans"/>
              <a:ea typeface="Google Sans"/>
              <a:cs typeface="Google Sans"/>
              <a:sym typeface="Google Sans"/>
            </a:endParaRPr>
          </a:p>
        </p:txBody>
      </p:sp>
      <p:pic>
        <p:nvPicPr>
          <p:cNvPr id="62" name="Picture 61" descr="avatar_1.png"/>
          <p:cNvPicPr>
            <a:picLocks noChangeAspect="1"/>
          </p:cNvPicPr>
          <p:nvPr/>
        </p:nvPicPr>
        <p:blipFill>
          <a:blip r:embed="rId3"/>
          <a:stretch>
            <a:fillRect/>
          </a:stretch>
        </p:blipFill>
        <p:spPr>
          <a:xfrm>
            <a:off x="480100" y="489900"/>
            <a:ext cx="2701050" cy="27010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SUNITA</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58</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M.A., B.Ed</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Chennai</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Married, 2 kids</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Retired teacher</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i="1" u="none" strike="noStrike" cap="none" dirty="0">
                <a:solidFill>
                  <a:srgbClr val="000000"/>
                </a:solidFill>
                <a:latin typeface="Google Sans"/>
                <a:ea typeface="Google Sans"/>
                <a:cs typeface="Google Sans"/>
                <a:sym typeface="Google Sans"/>
              </a:rPr>
              <a:t>“I read it for trust, not for noise.”</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rgbClr val="000000"/>
              </a:buClr>
              <a:buSzPts val="1400"/>
              <a:buFont typeface="Google Sans"/>
              <a:buChar char="●"/>
            </a:pPr>
            <a:r>
              <a:rPr lang="en-IN" dirty="0">
                <a:latin typeface="Google Sans"/>
                <a:ea typeface="Google Sans"/>
                <a:cs typeface="Google Sans"/>
                <a:sym typeface="Google Sans"/>
              </a:rPr>
              <a:t>Read in-depth editorials and analysis in comfort.</a:t>
            </a:r>
          </a:p>
          <a:p>
            <a:pPr marL="457200" marR="0" lvl="0" indent="-317500" algn="l" rtl="0">
              <a:lnSpc>
                <a:spcPct val="100000"/>
              </a:lnSpc>
              <a:spcBef>
                <a:spcPts val="0"/>
              </a:spcBef>
              <a:spcAft>
                <a:spcPts val="0"/>
              </a:spcAft>
              <a:buClr>
                <a:srgbClr val="000000"/>
              </a:buClr>
              <a:buSzPts val="1400"/>
              <a:buFont typeface="Google Sans"/>
              <a:buChar char="●"/>
            </a:pPr>
            <a:r>
              <a:rPr lang="en-IN" sz="1400" i="0" u="none" strike="noStrike" cap="none" dirty="0">
                <a:solidFill>
                  <a:srgbClr val="000000"/>
                </a:solidFill>
                <a:latin typeface="Google Sans"/>
                <a:ea typeface="Google Sans"/>
                <a:cs typeface="Google Sans"/>
                <a:sym typeface="Google Sans"/>
              </a:rPr>
              <a:t>Trust that the news is verified.</a:t>
            </a:r>
            <a:endParaRPr sz="14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3264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chemeClr val="dk1"/>
              </a:buClr>
              <a:buSzPts val="1400"/>
              <a:buFont typeface="Google Sans"/>
              <a:buChar char="●"/>
            </a:pPr>
            <a:r>
              <a:rPr lang="en" sz="1400" i="0" u="none" strike="noStrike" cap="none" dirty="0">
                <a:solidFill>
                  <a:schemeClr val="dk1"/>
                </a:solidFill>
                <a:latin typeface="Google Sans"/>
                <a:ea typeface="Google Sans"/>
                <a:cs typeface="Google Sans"/>
                <a:sym typeface="Google Sans"/>
              </a:rPr>
              <a:t>Small text and crowded pages strain her eyes.</a:t>
            </a:r>
          </a:p>
          <a:p>
            <a:pPr marL="457200" marR="0" lvl="0" indent="-317500" algn="l" rtl="0">
              <a:lnSpc>
                <a:spcPct val="100000"/>
              </a:lnSpc>
              <a:spcBef>
                <a:spcPts val="0"/>
              </a:spcBef>
              <a:spcAft>
                <a:spcPts val="0"/>
              </a:spcAft>
              <a:buClr>
                <a:schemeClr val="dk1"/>
              </a:buClr>
              <a:buSzPts val="1400"/>
              <a:buFont typeface="Google Sans"/>
              <a:buChar char="●"/>
            </a:pPr>
            <a:r>
              <a:rPr lang="en-IN" sz="1400" i="0" u="none" strike="noStrike" cap="none" dirty="0">
                <a:solidFill>
                  <a:schemeClr val="dk1"/>
                </a:solidFill>
                <a:latin typeface="Google Sans"/>
                <a:ea typeface="Google Sans"/>
                <a:cs typeface="Google Sans"/>
                <a:sym typeface="Google Sans"/>
              </a:rPr>
              <a:t>Hard to find the editorial section quickly.</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rgbClr val="000000"/>
              </a:solidFill>
              <a:latin typeface="Google Sans"/>
              <a:ea typeface="Google Sans"/>
              <a:cs typeface="Google Sans"/>
              <a:sym typeface="Google Sans"/>
            </a:endParaRPr>
          </a:p>
        </p:txBody>
      </p:sp>
      <p:sp>
        <p:nvSpPr>
          <p:cNvPr id="61" name="Google Shape;61;p13"/>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i="0" u="none" strike="noStrike" cap="none" dirty="0">
                <a:solidFill>
                  <a:srgbClr val="000000"/>
                </a:solidFill>
                <a:latin typeface="Google Sans"/>
                <a:ea typeface="Google Sans"/>
                <a:cs typeface="Google Sans"/>
                <a:sym typeface="Google Sans"/>
              </a:rPr>
              <a:t>Sunita is a 58 year old retired teacher who reads The Hindu every morning on her laptop. She values credibility and readable layouts, but dense menus, ads beside articles and small type make long reading tiring.</a:t>
            </a:r>
            <a:endParaRPr sz="1400" i="0" u="none" strike="noStrike" cap="none" dirty="0">
              <a:solidFill>
                <a:srgbClr val="000000"/>
              </a:solidFill>
              <a:latin typeface="Google Sans"/>
              <a:ea typeface="Google Sans"/>
              <a:cs typeface="Google Sans"/>
              <a:sym typeface="Google Sans"/>
            </a:endParaRPr>
          </a:p>
        </p:txBody>
      </p:sp>
      <p:pic>
        <p:nvPicPr>
          <p:cNvPr id="62" name="Picture 61" descr="avatar_2.png"/>
          <p:cNvPicPr>
            <a:picLocks noChangeAspect="1"/>
          </p:cNvPicPr>
          <p:nvPr/>
        </p:nvPicPr>
        <p:blipFill>
          <a:blip r:embed="rId2"/>
          <a:stretch>
            <a:fillRect/>
          </a:stretch>
        </p:blipFill>
        <p:spPr>
          <a:xfrm>
            <a:off x="480100" y="489900"/>
            <a:ext cx="2701050" cy="2701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KARAN</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22</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B.A. (Pol. Sci.)</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Patna</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Parents, sister</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UPSC aspirant</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i="1" u="none" strike="noStrike" cap="none" dirty="0">
                <a:solidFill>
                  <a:srgbClr val="000000"/>
                </a:solidFill>
                <a:latin typeface="Google Sans"/>
                <a:ea typeface="Google Sans"/>
                <a:cs typeface="Google Sans"/>
                <a:sym typeface="Google Sans"/>
              </a:rPr>
              <a:t>“Where is the UPSC section again?”</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rgbClr val="000000"/>
              </a:buClr>
              <a:buSzPts val="1400"/>
              <a:buFont typeface="Google Sans"/>
              <a:buChar char="●"/>
            </a:pPr>
            <a:r>
              <a:rPr lang="en-IN" dirty="0">
                <a:latin typeface="Google Sans"/>
                <a:ea typeface="Google Sans"/>
                <a:cs typeface="Google Sans"/>
                <a:sym typeface="Google Sans"/>
              </a:rPr>
              <a:t>Find Explained and editorial articles for exam prep.</a:t>
            </a:r>
          </a:p>
          <a:p>
            <a:pPr marL="457200" marR="0" lvl="0" indent="-317500" algn="l" rtl="0">
              <a:lnSpc>
                <a:spcPct val="100000"/>
              </a:lnSpc>
              <a:spcBef>
                <a:spcPts val="0"/>
              </a:spcBef>
              <a:spcAft>
                <a:spcPts val="0"/>
              </a:spcAft>
              <a:buClr>
                <a:srgbClr val="000000"/>
              </a:buClr>
              <a:buSzPts val="1400"/>
              <a:buFont typeface="Google Sans"/>
              <a:buChar char="●"/>
            </a:pPr>
            <a:r>
              <a:rPr lang="en-IN" sz="1400" i="0" u="none" strike="noStrike" cap="none" dirty="0">
                <a:solidFill>
                  <a:srgbClr val="000000"/>
                </a:solidFill>
                <a:latin typeface="Google Sans"/>
                <a:ea typeface="Google Sans"/>
                <a:cs typeface="Google Sans"/>
                <a:sym typeface="Google Sans"/>
              </a:rPr>
              <a:t>Search past stories through an archive.</a:t>
            </a:r>
            <a:endParaRPr sz="14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3264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chemeClr val="dk1"/>
              </a:buClr>
              <a:buSzPts val="1400"/>
              <a:buFont typeface="Google Sans"/>
              <a:buChar char="●"/>
            </a:pPr>
            <a:r>
              <a:rPr lang="en" sz="1400" i="0" u="none" strike="noStrike" cap="none" dirty="0">
                <a:solidFill>
                  <a:schemeClr val="dk1"/>
                </a:solidFill>
                <a:latin typeface="Google Sans"/>
                <a:ea typeface="Google Sans"/>
                <a:cs typeface="Google Sans"/>
                <a:sym typeface="Google Sans"/>
              </a:rPr>
              <a:t>Paywalls interrupt study sessions mid-article.</a:t>
            </a:r>
          </a:p>
          <a:p>
            <a:pPr marL="457200" marR="0" lvl="0" indent="-317500" algn="l" rtl="0">
              <a:lnSpc>
                <a:spcPct val="100000"/>
              </a:lnSpc>
              <a:spcBef>
                <a:spcPts val="0"/>
              </a:spcBef>
              <a:spcAft>
                <a:spcPts val="0"/>
              </a:spcAft>
              <a:buClr>
                <a:schemeClr val="dk1"/>
              </a:buClr>
              <a:buSzPts val="1400"/>
              <a:buFont typeface="Google Sans"/>
              <a:buChar char="●"/>
            </a:pPr>
            <a:r>
              <a:rPr lang="en-IN" sz="1400" i="0" u="none" strike="noStrike" cap="none" dirty="0">
                <a:solidFill>
                  <a:schemeClr val="dk1"/>
                </a:solidFill>
                <a:latin typeface="Google Sans"/>
                <a:ea typeface="Google Sans"/>
                <a:cs typeface="Google Sans"/>
                <a:sym typeface="Google Sans"/>
              </a:rPr>
              <a:t>Nested menus bury the sections he needs.</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rgbClr val="000000"/>
              </a:solidFill>
              <a:latin typeface="Google Sans"/>
              <a:ea typeface="Google Sans"/>
              <a:cs typeface="Google Sans"/>
              <a:sym typeface="Google Sans"/>
            </a:endParaRPr>
          </a:p>
        </p:txBody>
      </p:sp>
      <p:sp>
        <p:nvSpPr>
          <p:cNvPr id="61" name="Google Shape;61;p13"/>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i="0" u="none" strike="noStrike" cap="none" dirty="0">
                <a:solidFill>
                  <a:srgbClr val="000000"/>
                </a:solidFill>
                <a:latin typeface="Google Sans"/>
                <a:ea typeface="Google Sans"/>
                <a:cs typeface="Google Sans"/>
                <a:sym typeface="Google Sans"/>
              </a:rPr>
              <a:t>Karan is a 22 year old civil services aspirant who studies from news explainers and editorials daily. He needs quick access to topic sections and archives, but paywalls and deep navigation slow his study routine.</a:t>
            </a:r>
            <a:endParaRPr sz="1400" i="0" u="none" strike="noStrike" cap="none" dirty="0">
              <a:solidFill>
                <a:srgbClr val="000000"/>
              </a:solidFill>
              <a:latin typeface="Google Sans"/>
              <a:ea typeface="Google Sans"/>
              <a:cs typeface="Google Sans"/>
              <a:sym typeface="Google Sans"/>
            </a:endParaRPr>
          </a:p>
        </p:txBody>
      </p:sp>
      <p:pic>
        <p:nvPicPr>
          <p:cNvPr id="62" name="Picture 61" descr="avatar_3.png"/>
          <p:cNvPicPr>
            <a:picLocks noChangeAspect="1"/>
          </p:cNvPicPr>
          <p:nvPr/>
        </p:nvPicPr>
        <p:blipFill>
          <a:blip r:embed="rId2"/>
          <a:stretch>
            <a:fillRect/>
          </a:stretch>
        </p:blipFill>
        <p:spPr>
          <a:xfrm>
            <a:off x="480100" y="489900"/>
            <a:ext cx="2701050" cy="2701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MEERA</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41</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MBA</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Kochi</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Married, 2 kids</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Marketing mgr</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i="1" u="none" strike="noStrike" cap="none" dirty="0">
                <a:solidFill>
                  <a:srgbClr val="000000"/>
                </a:solidFill>
                <a:latin typeface="Google Sans"/>
                <a:ea typeface="Google Sans"/>
                <a:cs typeface="Google Sans"/>
                <a:sym typeface="Google Sans"/>
              </a:rPr>
              <a:t>“Why am I seeing news that isn't relevant to me?”</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rgbClr val="000000"/>
              </a:buClr>
              <a:buSzPts val="1400"/>
              <a:buFont typeface="Google Sans"/>
              <a:buChar char="●"/>
            </a:pPr>
            <a:r>
              <a:rPr lang="en-IN" dirty="0">
                <a:latin typeface="Google Sans"/>
                <a:ea typeface="Google Sans"/>
                <a:cs typeface="Google Sans"/>
                <a:sym typeface="Google Sans"/>
              </a:rPr>
              <a:t>Follow local, health and education news.</a:t>
            </a:r>
          </a:p>
          <a:p>
            <a:pPr marL="457200" marR="0" lvl="0" indent="-317500" algn="l" rtl="0">
              <a:lnSpc>
                <a:spcPct val="100000"/>
              </a:lnSpc>
              <a:spcBef>
                <a:spcPts val="0"/>
              </a:spcBef>
              <a:spcAft>
                <a:spcPts val="0"/>
              </a:spcAft>
              <a:buClr>
                <a:srgbClr val="000000"/>
              </a:buClr>
              <a:buSzPts val="1400"/>
              <a:buFont typeface="Google Sans"/>
              <a:buChar char="●"/>
            </a:pPr>
            <a:r>
              <a:rPr lang="en-IN" sz="1400" i="0" u="none" strike="noStrike" cap="none" dirty="0">
                <a:solidFill>
                  <a:srgbClr val="000000"/>
                </a:solidFill>
                <a:latin typeface="Google Sans"/>
                <a:ea typeface="Google Sans"/>
                <a:cs typeface="Google Sans"/>
                <a:sym typeface="Google Sans"/>
              </a:rPr>
              <a:t>Get recommendations based on her interests.</a:t>
            </a:r>
            <a:endParaRPr sz="14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3264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chemeClr val="dk1"/>
              </a:buClr>
              <a:buSzPts val="1400"/>
              <a:buFont typeface="Google Sans"/>
              <a:buChar char="●"/>
            </a:pPr>
            <a:r>
              <a:rPr lang="en" sz="1400" i="0" u="none" strike="noStrike" cap="none" dirty="0">
                <a:solidFill>
                  <a:schemeClr val="dk1"/>
                </a:solidFill>
                <a:latin typeface="Google Sans"/>
                <a:ea typeface="Google Sans"/>
                <a:cs typeface="Google Sans"/>
                <a:sym typeface="Google Sans"/>
              </a:rPr>
              <a:t>Homepage shows same stories to everyone.</a:t>
            </a:r>
          </a:p>
          <a:p>
            <a:pPr marL="457200" marR="0" lvl="0" indent="-317500" algn="l" rtl="0">
              <a:lnSpc>
                <a:spcPct val="100000"/>
              </a:lnSpc>
              <a:spcBef>
                <a:spcPts val="0"/>
              </a:spcBef>
              <a:spcAft>
                <a:spcPts val="0"/>
              </a:spcAft>
              <a:buClr>
                <a:schemeClr val="dk1"/>
              </a:buClr>
              <a:buSzPts val="1400"/>
              <a:buFont typeface="Google Sans"/>
              <a:buChar char="●"/>
            </a:pPr>
            <a:r>
              <a:rPr lang="en-IN" sz="1400" i="0" u="none" strike="noStrike" cap="none" dirty="0">
                <a:solidFill>
                  <a:schemeClr val="dk1"/>
                </a:solidFill>
                <a:latin typeface="Google Sans"/>
                <a:ea typeface="Google Sans"/>
                <a:cs typeface="Google Sans"/>
                <a:sym typeface="Google Sans"/>
              </a:rPr>
              <a:t>Unclear what is free and what needs a subscription.</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rgbClr val="000000"/>
              </a:solidFill>
              <a:latin typeface="Google Sans"/>
              <a:ea typeface="Google Sans"/>
              <a:cs typeface="Google Sans"/>
              <a:sym typeface="Google Sans"/>
            </a:endParaRPr>
          </a:p>
        </p:txBody>
      </p:sp>
      <p:sp>
        <p:nvSpPr>
          <p:cNvPr id="61" name="Google Shape;61;p13"/>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i="0" u="none" strike="noStrike" cap="none" dirty="0">
                <a:solidFill>
                  <a:srgbClr val="000000"/>
                </a:solidFill>
                <a:latin typeface="Google Sans"/>
                <a:ea typeface="Google Sans"/>
                <a:cs typeface="Google Sans"/>
                <a:sym typeface="Google Sans"/>
              </a:rPr>
              <a:t>Meera is a 41 year old marketing manager and mother who checks news between meetings and school runs. She wants personalised, city-level stories, but generic homepages and unclear paywall labels waste her limited time.</a:t>
            </a:r>
            <a:endParaRPr sz="1400" i="0" u="none" strike="noStrike" cap="none" dirty="0">
              <a:solidFill>
                <a:srgbClr val="000000"/>
              </a:solidFill>
              <a:latin typeface="Google Sans"/>
              <a:ea typeface="Google Sans"/>
              <a:cs typeface="Google Sans"/>
              <a:sym typeface="Google Sans"/>
            </a:endParaRPr>
          </a:p>
        </p:txBody>
      </p:sp>
      <p:pic>
        <p:nvPicPr>
          <p:cNvPr id="62" name="Picture 61" descr="avatar_4.png"/>
          <p:cNvPicPr>
            <a:picLocks noChangeAspect="1"/>
          </p:cNvPicPr>
          <p:nvPr/>
        </p:nvPicPr>
        <p:blipFill>
          <a:blip r:embed="rId2"/>
          <a:stretch>
            <a:fillRect/>
          </a:stretch>
        </p:blipFill>
        <p:spPr>
          <a:xfrm>
            <a:off x="480100" y="489900"/>
            <a:ext cx="2701050" cy="27010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ROHAN</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45</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B.Com</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Lucknow</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Married, 1 son</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Business owner</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i="1" u="none" strike="noStrike" cap="none" dirty="0">
                <a:solidFill>
                  <a:srgbClr val="000000"/>
                </a:solidFill>
                <a:latin typeface="Google Sans"/>
                <a:ea typeface="Google Sans"/>
                <a:cs typeface="Google Sans"/>
                <a:sym typeface="Google Sans"/>
              </a:rPr>
              <a:t>“Give me the market news without the clutter.”</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rgbClr val="000000"/>
              </a:buClr>
              <a:buSzPts val="1400"/>
              <a:buFont typeface="Google Sans"/>
              <a:buChar char="●"/>
            </a:pPr>
            <a:r>
              <a:rPr lang="en-IN" dirty="0">
                <a:latin typeface="Google Sans"/>
                <a:ea typeface="Google Sans"/>
                <a:cs typeface="Google Sans"/>
                <a:sym typeface="Google Sans"/>
              </a:rPr>
              <a:t>Check business and market updates quickly.</a:t>
            </a:r>
          </a:p>
          <a:p>
            <a:pPr marL="457200" marR="0" lvl="0" indent="-317500" algn="l" rtl="0">
              <a:lnSpc>
                <a:spcPct val="100000"/>
              </a:lnSpc>
              <a:spcBef>
                <a:spcPts val="0"/>
              </a:spcBef>
              <a:spcAft>
                <a:spcPts val="0"/>
              </a:spcAft>
              <a:buClr>
                <a:srgbClr val="000000"/>
              </a:buClr>
              <a:buSzPts val="1400"/>
              <a:buFont typeface="Google Sans"/>
              <a:buChar char="●"/>
            </a:pPr>
            <a:r>
              <a:rPr lang="en-IN" sz="1400" i="0" u="none" strike="noStrike" cap="none" dirty="0">
                <a:solidFill>
                  <a:srgbClr val="000000"/>
                </a:solidFill>
                <a:latin typeface="Google Sans"/>
                <a:ea typeface="Google Sans"/>
                <a:cs typeface="Google Sans"/>
                <a:sym typeface="Google Sans"/>
              </a:rPr>
              <a:t>Read reliable news without pop-ups or banners.</a:t>
            </a:r>
            <a:endParaRPr sz="14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3264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457200" marR="0" lvl="0" indent="-317500" algn="l" rtl="0">
              <a:lnSpc>
                <a:spcPct val="100000"/>
              </a:lnSpc>
              <a:spcBef>
                <a:spcPts val="0"/>
              </a:spcBef>
              <a:spcAft>
                <a:spcPts val="0"/>
              </a:spcAft>
              <a:buClr>
                <a:schemeClr val="dk1"/>
              </a:buClr>
              <a:buSzPts val="1400"/>
              <a:buFont typeface="Google Sans"/>
              <a:buChar char="●"/>
            </a:pPr>
            <a:r>
              <a:rPr lang="en" sz="1400" i="0" u="none" strike="noStrike" cap="none" dirty="0">
                <a:solidFill>
                  <a:schemeClr val="dk1"/>
                </a:solidFill>
                <a:latin typeface="Google Sans"/>
                <a:ea typeface="Google Sans"/>
                <a:cs typeface="Google Sans"/>
                <a:sym typeface="Google Sans"/>
              </a:rPr>
              <a:t>Broken images and empty ad boxes look unprofessional.</a:t>
            </a:r>
          </a:p>
          <a:p>
            <a:pPr marL="457200" marR="0" lvl="0" indent="-317500" algn="l" rtl="0">
              <a:lnSpc>
                <a:spcPct val="100000"/>
              </a:lnSpc>
              <a:spcBef>
                <a:spcPts val="0"/>
              </a:spcBef>
              <a:spcAft>
                <a:spcPts val="0"/>
              </a:spcAft>
              <a:buClr>
                <a:schemeClr val="dk1"/>
              </a:buClr>
              <a:buSzPts val="1400"/>
              <a:buFont typeface="Google Sans"/>
              <a:buChar char="●"/>
            </a:pPr>
            <a:r>
              <a:rPr lang="en-IN" sz="1400" i="0" u="none" strike="noStrike" cap="none" dirty="0">
                <a:solidFill>
                  <a:schemeClr val="dk1"/>
                </a:solidFill>
                <a:latin typeface="Google Sans"/>
                <a:ea typeface="Google Sans"/>
                <a:cs typeface="Google Sans"/>
                <a:sym typeface="Google Sans"/>
              </a:rPr>
              <a:t>Not sure a subscription is worth paying for.</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rgbClr val="000000"/>
              </a:solidFill>
              <a:latin typeface="Google Sans"/>
              <a:ea typeface="Google Sans"/>
              <a:cs typeface="Google Sans"/>
              <a:sym typeface="Google Sans"/>
            </a:endParaRPr>
          </a:p>
        </p:txBody>
      </p:sp>
      <p:sp>
        <p:nvSpPr>
          <p:cNvPr id="61" name="Google Shape;61;p13"/>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i="0" u="none" strike="noStrike" cap="none" dirty="0">
                <a:solidFill>
                  <a:srgbClr val="000000"/>
                </a:solidFill>
                <a:latin typeface="Google Sans"/>
                <a:ea typeface="Google Sans"/>
                <a:cs typeface="Google Sans"/>
                <a:sym typeface="Google Sans"/>
              </a:rPr>
              <a:t>Rohan is a 45 year old business owner who reads market and policy news on his desktop between customers. He values quick, trustworthy updates, but cluttered layouts, broken images and aggressive ads reduce his confidence in the site.</a:t>
            </a:r>
            <a:endParaRPr sz="1400" i="0" u="none" strike="noStrike" cap="none" dirty="0">
              <a:solidFill>
                <a:srgbClr val="000000"/>
              </a:solidFill>
              <a:latin typeface="Google Sans"/>
              <a:ea typeface="Google Sans"/>
              <a:cs typeface="Google Sans"/>
              <a:sym typeface="Google Sans"/>
            </a:endParaRPr>
          </a:p>
        </p:txBody>
      </p:sp>
      <p:pic>
        <p:nvPicPr>
          <p:cNvPr id="62" name="Picture 61" descr="avatar_5.png"/>
          <p:cNvPicPr>
            <a:picLocks noChangeAspect="1"/>
          </p:cNvPicPr>
          <p:nvPr/>
        </p:nvPicPr>
        <p:blipFill>
          <a:blip r:embed="rId2"/>
          <a:stretch>
            <a:fillRect/>
          </a:stretch>
        </p:blipFill>
        <p:spPr>
          <a:xfrm>
            <a:off x="480100" y="489900"/>
            <a:ext cx="2701050" cy="270105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540</Words>
  <Application>Microsoft Office PowerPoint</Application>
  <PresentationFormat>On-screen Show (16:9)</PresentationFormat>
  <Paragraphs>95</Paragraphs>
  <Slides>5</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Google Sans</vt:lpstr>
      <vt:lpstr>Arial</vt:lpstr>
      <vt:lpstr>Simple Light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Diya Kumari</dc:creator>
  <cp:lastModifiedBy>Aditya Chavan</cp:lastModifiedBy>
  <cp:revision>1</cp:revision>
  <dcterms:modified xsi:type="dcterms:W3CDTF">2026-10-12T22:20:01Z</dcterms:modified>
</cp:coreProperties>
</file>